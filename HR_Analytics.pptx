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8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3F56-3DA1-4A33-9D8E-4BC3C28CEFD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4B6AF-AF80-4390-8375-9523F7508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3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4B6AF-AF80-4390-8375-9523F75085F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85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030" y="490756"/>
            <a:ext cx="4001550" cy="783424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HR Analytics</a:t>
            </a:r>
            <a:endParaRPr sz="5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E9011-7C00-FF88-C101-266A4CBA6296}"/>
              </a:ext>
            </a:extLst>
          </p:cNvPr>
          <p:cNvSpPr/>
          <p:nvPr/>
        </p:nvSpPr>
        <p:spPr>
          <a:xfrm>
            <a:off x="276837" y="230697"/>
            <a:ext cx="8581937" cy="63966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1CF1B5-A29E-D0C5-A922-B9637F51F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05" y="2466472"/>
            <a:ext cx="8229600" cy="26760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dataset contains employee-level information from a large MNC across multiple departments and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The dataset  includes </a:t>
            </a:r>
            <a:r>
              <a:rPr lang="en-IN" sz="1800" b="1" dirty="0"/>
              <a:t>54808 employee </a:t>
            </a:r>
            <a:r>
              <a:rPr lang="en-IN" sz="1800" dirty="0"/>
              <a:t>records and </a:t>
            </a:r>
            <a:r>
              <a:rPr lang="en-IN" sz="1800" b="1" dirty="0"/>
              <a:t>14</a:t>
            </a:r>
            <a:r>
              <a:rPr lang="en-IN" sz="1800" dirty="0"/>
              <a:t>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target variable is ‘</a:t>
            </a:r>
            <a:r>
              <a:rPr lang="en-US" sz="1800" dirty="0" err="1"/>
              <a:t>is_promoted</a:t>
            </a:r>
            <a:r>
              <a:rPr lang="en-US" sz="1800" dirty="0"/>
              <a:t>’ and </a:t>
            </a:r>
            <a:r>
              <a:rPr lang="en-IN" sz="1800" dirty="0"/>
              <a:t>performance indicators are ‘Previous year rating’,’ KPIs met &gt;80%’,’ Awards won’.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Promotion rate is low (~8.5%), making early identification critical.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Technology &amp; Analytics show highest leadership demand.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dataset provides a comprehensive view of employee performance and development, enabling predictive and fair promotion decision-making.</a:t>
            </a: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A49EE-7C22-D96F-E731-CA1948121BC7}"/>
              </a:ext>
            </a:extLst>
          </p:cNvPr>
          <p:cNvSpPr txBox="1"/>
          <p:nvPr/>
        </p:nvSpPr>
        <p:spPr>
          <a:xfrm>
            <a:off x="759204" y="19880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/>
              <a:t>Dataset Overview &amp; Key Observations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6756" y="231993"/>
            <a:ext cx="3217178" cy="410959"/>
          </a:xfrm>
        </p:spPr>
        <p:txBody>
          <a:bodyPr>
            <a:normAutofit/>
          </a:bodyPr>
          <a:lstStyle/>
          <a:p>
            <a:r>
              <a:rPr lang="en-IN" sz="1800" b="1" u="sng" dirty="0"/>
              <a:t>Distribution of Department</a:t>
            </a:r>
            <a:endParaRPr sz="18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354A2-96D7-94E7-741B-A9D88FAC41B5}"/>
              </a:ext>
            </a:extLst>
          </p:cNvPr>
          <p:cNvSpPr txBox="1"/>
          <p:nvPr/>
        </p:nvSpPr>
        <p:spPr>
          <a:xfrm>
            <a:off x="427836" y="642952"/>
            <a:ext cx="82631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Evaluate </a:t>
            </a:r>
            <a:r>
              <a:rPr lang="en-US" sz="1600" b="1" dirty="0"/>
              <a:t>Sales &amp; Marketing</a:t>
            </a:r>
            <a:r>
              <a:rPr lang="en-US" sz="1600" dirty="0"/>
              <a:t> and </a:t>
            </a:r>
            <a:r>
              <a:rPr lang="en-US" sz="1600" b="1" dirty="0"/>
              <a:t>Operations</a:t>
            </a:r>
            <a:r>
              <a:rPr lang="en-US" sz="1600" dirty="0"/>
              <a:t> for role efficiency and workload balance due to their very high headcounts.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targeted talent strategies for </a:t>
            </a:r>
            <a:r>
              <a:rPr lang="en-US" sz="1600" b="1" dirty="0"/>
              <a:t>HR</a:t>
            </a:r>
            <a:r>
              <a:rPr lang="en-US" sz="1600" dirty="0"/>
              <a:t> and </a:t>
            </a:r>
            <a:r>
              <a:rPr lang="en-US" sz="1600" b="1" dirty="0"/>
              <a:t>Legal</a:t>
            </a:r>
            <a:r>
              <a:rPr lang="en-US" sz="1600" dirty="0"/>
              <a:t>, which currently have the lowest promotion rates, potentially due to flatter organizational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Direct additional training resources into large departments to improve the depth of the leadership pipeline.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DE051-8E55-89A4-CF91-2AC16EA147EC}"/>
              </a:ext>
            </a:extLst>
          </p:cNvPr>
          <p:cNvSpPr/>
          <p:nvPr/>
        </p:nvSpPr>
        <p:spPr>
          <a:xfrm>
            <a:off x="260059" y="226503"/>
            <a:ext cx="8607104" cy="639241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CD684-2BAA-7D44-1BC9-C2F6F9527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7" y="2332138"/>
            <a:ext cx="8263156" cy="415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915" y="305464"/>
            <a:ext cx="3523376" cy="396481"/>
          </a:xfrm>
        </p:spPr>
        <p:txBody>
          <a:bodyPr>
            <a:noAutofit/>
          </a:bodyPr>
          <a:lstStyle/>
          <a:p>
            <a:r>
              <a:rPr lang="en-US" sz="1800" b="1" u="sng" dirty="0"/>
              <a:t>Promotion Rate by KPI Completion</a:t>
            </a:r>
            <a:endParaRPr sz="18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4EC59-C152-188C-E1DF-B3A7485EAFA1}"/>
              </a:ext>
            </a:extLst>
          </p:cNvPr>
          <p:cNvSpPr txBox="1"/>
          <p:nvPr/>
        </p:nvSpPr>
        <p:spPr>
          <a:xfrm>
            <a:off x="461394" y="736777"/>
            <a:ext cx="829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52D08C-7F6F-6A82-67E8-03D1BB5AE3DE}"/>
              </a:ext>
            </a:extLst>
          </p:cNvPr>
          <p:cNvSpPr/>
          <p:nvPr/>
        </p:nvSpPr>
        <p:spPr>
          <a:xfrm>
            <a:off x="260059" y="243281"/>
            <a:ext cx="8632271" cy="63588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B622D1-755D-FA2C-4F14-84841029E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395" y="2056740"/>
            <a:ext cx="8196044" cy="434406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809940-68A7-68AF-122D-548A181DDA74}"/>
              </a:ext>
            </a:extLst>
          </p:cNvPr>
          <p:cNvSpPr txBox="1"/>
          <p:nvPr/>
        </p:nvSpPr>
        <p:spPr>
          <a:xfrm>
            <a:off x="578840" y="684794"/>
            <a:ext cx="79863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who did NOT meet &gt;80% KPIs have a promotion probability of </a:t>
            </a:r>
            <a:r>
              <a:rPr lang="en-US" sz="1600" b="1" dirty="0"/>
              <a:t>~4%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who met &gt;80% KPIs have a much higher promotion probability (around </a:t>
            </a:r>
            <a:r>
              <a:rPr lang="en-US" sz="1600" b="1" dirty="0"/>
              <a:t>17%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KPI completion is the </a:t>
            </a:r>
            <a:r>
              <a:rPr lang="en-US" sz="1600" b="1" dirty="0"/>
              <a:t>strongest driver of promotion decisions</a:t>
            </a:r>
            <a:r>
              <a:rPr lang="en-US" sz="1600" dirty="0"/>
              <a:t> and acts as a mandatory eligibility filter in the promotion process.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9702" y="256478"/>
            <a:ext cx="2894203" cy="430037"/>
          </a:xfrm>
        </p:spPr>
        <p:txBody>
          <a:bodyPr>
            <a:noAutofit/>
          </a:bodyPr>
          <a:lstStyle/>
          <a:p>
            <a:r>
              <a:rPr lang="en-US" sz="1800" b="1" u="sng" dirty="0"/>
              <a:t>Training Score vs Promotion</a:t>
            </a:r>
            <a:endParaRPr sz="18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BBAA-18CC-BD4B-D541-43E364E1614B}"/>
              </a:ext>
            </a:extLst>
          </p:cNvPr>
          <p:cNvSpPr txBox="1"/>
          <p:nvPr/>
        </p:nvSpPr>
        <p:spPr>
          <a:xfrm>
            <a:off x="436228" y="687042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who were </a:t>
            </a:r>
            <a:r>
              <a:rPr lang="en-US" sz="1600" b="1" dirty="0"/>
              <a:t>not promoted (0)</a:t>
            </a:r>
            <a:r>
              <a:rPr lang="en-US" sz="1600" dirty="0"/>
              <a:t> generally have </a:t>
            </a:r>
            <a:r>
              <a:rPr lang="en-US" sz="1600" b="1" dirty="0"/>
              <a:t>lower training scores</a:t>
            </a:r>
            <a:r>
              <a:rPr lang="en-US" sz="1600" dirty="0"/>
              <a:t>, with a median around </a:t>
            </a:r>
            <a:r>
              <a:rPr lang="en-US" sz="1600" b="1" dirty="0"/>
              <a:t>60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who were </a:t>
            </a:r>
            <a:r>
              <a:rPr lang="en-US" sz="1600" b="1" dirty="0"/>
              <a:t>promoted (1)</a:t>
            </a:r>
            <a:r>
              <a:rPr lang="en-US" sz="1600" dirty="0"/>
              <a:t> show </a:t>
            </a:r>
            <a:r>
              <a:rPr lang="en-US" sz="1600" b="1" dirty="0"/>
              <a:t>higher training scores</a:t>
            </a:r>
            <a:r>
              <a:rPr lang="en-US" sz="1600" dirty="0"/>
              <a:t>, with a median around </a:t>
            </a:r>
            <a:r>
              <a:rPr lang="en-US" sz="1600" b="1" dirty="0"/>
              <a:t>70+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Set a </a:t>
            </a:r>
            <a:r>
              <a:rPr lang="en-US" sz="1600" b="1" dirty="0"/>
              <a:t>minimum training score threshold</a:t>
            </a:r>
            <a:r>
              <a:rPr lang="en-US" sz="1600" dirty="0"/>
              <a:t> (e.g., 70+) for promotion eligibility. Use training scores as a </a:t>
            </a:r>
            <a:r>
              <a:rPr lang="en-US" sz="1600" b="1" dirty="0"/>
              <a:t>key input feature</a:t>
            </a:r>
            <a:r>
              <a:rPr lang="en-US" sz="1600" dirty="0"/>
              <a:t> in promotion prediction models.</a:t>
            </a:r>
            <a:endParaRPr lang="en-IN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38BF6-41C8-B104-D248-E4DB28DFBB30}"/>
              </a:ext>
            </a:extLst>
          </p:cNvPr>
          <p:cNvSpPr/>
          <p:nvPr/>
        </p:nvSpPr>
        <p:spPr>
          <a:xfrm>
            <a:off x="260058" y="251670"/>
            <a:ext cx="8623884" cy="63588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173A5-FB44-259F-5D42-5A376143C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8" y="2248250"/>
            <a:ext cx="8154100" cy="414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5483" y="272693"/>
            <a:ext cx="4926436" cy="419348"/>
          </a:xfrm>
        </p:spPr>
        <p:txBody>
          <a:bodyPr>
            <a:normAutofit/>
          </a:bodyPr>
          <a:lstStyle/>
          <a:p>
            <a:r>
              <a:rPr lang="en-US" sz="1800" b="1" u="sng" dirty="0"/>
              <a:t>Distribution of Previous Year Performance Ratings</a:t>
            </a:r>
            <a:endParaRPr sz="180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DB62B5-5340-4D99-BDF1-5926F8F726FC}"/>
              </a:ext>
            </a:extLst>
          </p:cNvPr>
          <p:cNvSpPr/>
          <p:nvPr/>
        </p:nvSpPr>
        <p:spPr>
          <a:xfrm>
            <a:off x="251670" y="243079"/>
            <a:ext cx="8615493" cy="63590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04B76F2-58DB-15B0-7E4A-7F8926BFA5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32" y="2369346"/>
            <a:ext cx="8237990" cy="411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F2B93C-20DF-DF3A-38D2-AB3E16DB90E5}"/>
              </a:ext>
            </a:extLst>
          </p:cNvPr>
          <p:cNvSpPr txBox="1"/>
          <p:nvPr/>
        </p:nvSpPr>
        <p:spPr>
          <a:xfrm>
            <a:off x="486560" y="738130"/>
            <a:ext cx="8128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employees fall into </a:t>
            </a:r>
            <a:r>
              <a:rPr lang="en-US" sz="1600" b="1" dirty="0"/>
              <a:t>average performance (Rating 3)</a:t>
            </a:r>
            <a:r>
              <a:rPr lang="en-US" sz="1600" dirty="0"/>
              <a:t>, forming the largest segment of the workforce.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significant number of employees are rated </a:t>
            </a:r>
            <a:r>
              <a:rPr lang="en-US" sz="1600" b="1" dirty="0"/>
              <a:t>4 and 5</a:t>
            </a:r>
            <a:r>
              <a:rPr lang="en-US" sz="1600" dirty="0"/>
              <a:t>, indicating a strong pool of </a:t>
            </a:r>
            <a:r>
              <a:rPr lang="en-US" sz="1600" b="1" dirty="0"/>
              <a:t>high performers and future leaders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Prioritize employees with </a:t>
            </a:r>
            <a:r>
              <a:rPr lang="en-US" sz="1600" b="1" dirty="0"/>
              <a:t>ratings 4 and 5</a:t>
            </a:r>
            <a:r>
              <a:rPr lang="en-US" sz="1600" dirty="0"/>
              <a:t> for promotion and leadership programs. Combine rating with KPI and training score for early promotion prediction.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1619" y="270239"/>
            <a:ext cx="3280096" cy="446506"/>
          </a:xfrm>
        </p:spPr>
        <p:txBody>
          <a:bodyPr>
            <a:normAutofit/>
          </a:bodyPr>
          <a:lstStyle/>
          <a:p>
            <a:r>
              <a:rPr lang="en-US" sz="1800" b="1" u="sng" dirty="0"/>
              <a:t>Impact of Awards on Promotion</a:t>
            </a:r>
            <a:endParaRPr sz="18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C084E-EBA2-64B6-109E-0D3107819149}"/>
              </a:ext>
            </a:extLst>
          </p:cNvPr>
          <p:cNvSpPr txBox="1"/>
          <p:nvPr/>
        </p:nvSpPr>
        <p:spPr>
          <a:xfrm>
            <a:off x="385894" y="716745"/>
            <a:ext cx="82715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who </a:t>
            </a:r>
            <a:r>
              <a:rPr lang="en-US" sz="1600" b="1" dirty="0"/>
              <a:t>did not win any awards</a:t>
            </a:r>
            <a:r>
              <a:rPr lang="en-US" sz="1600" dirty="0"/>
              <a:t> have a </a:t>
            </a:r>
            <a:r>
              <a:rPr lang="en-US" sz="1600" b="1" dirty="0"/>
              <a:t>very low promotion rate</a:t>
            </a:r>
            <a:r>
              <a:rPr lang="en-US" sz="1600" dirty="0"/>
              <a:t> (around </a:t>
            </a:r>
            <a:r>
              <a:rPr lang="en-US" sz="1600" b="1" dirty="0"/>
              <a:t>7–8%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Award winners are ~5× more likely to be promoted (≈45% vs 8%).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Awards act as a powerful accelerator for promotions, signaling leadership readiness and high organizational impact.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C1D51-83CF-0E72-47F2-6BBEAC93C63A}"/>
              </a:ext>
            </a:extLst>
          </p:cNvPr>
          <p:cNvSpPr/>
          <p:nvPr/>
        </p:nvSpPr>
        <p:spPr>
          <a:xfrm>
            <a:off x="251670" y="260059"/>
            <a:ext cx="8615493" cy="63672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061076C-4BCB-B33D-E49C-6534B461C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895" y="1971185"/>
            <a:ext cx="8112157" cy="446234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252" y="276938"/>
            <a:ext cx="3397541" cy="478071"/>
          </a:xfrm>
        </p:spPr>
        <p:txBody>
          <a:bodyPr>
            <a:normAutofit/>
          </a:bodyPr>
          <a:lstStyle/>
          <a:p>
            <a:r>
              <a:rPr lang="en-US" sz="1800" b="1" u="sng" dirty="0"/>
              <a:t>Length of Service vs Promotion</a:t>
            </a:r>
            <a:endParaRPr sz="18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4518F-EAB5-5C42-44A0-40A81AF4965B}"/>
              </a:ext>
            </a:extLst>
          </p:cNvPr>
          <p:cNvSpPr txBox="1"/>
          <p:nvPr/>
        </p:nvSpPr>
        <p:spPr>
          <a:xfrm>
            <a:off x="394283" y="755009"/>
            <a:ext cx="824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Both promoted and non-promoted employees are concentrated in the early years of service </a:t>
            </a:r>
          </a:p>
          <a:p>
            <a:r>
              <a:rPr lang="en-US" sz="1600" dirty="0"/>
              <a:t>      (≈2–8 years).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promotion density peaks around </a:t>
            </a:r>
            <a:r>
              <a:rPr lang="en-US" sz="1600" b="1" dirty="0"/>
              <a:t>3–6 years </a:t>
            </a:r>
            <a:r>
              <a:rPr lang="en-US" sz="1600" dirty="0"/>
              <a:t>of service. Very few promotions occur after (</a:t>
            </a:r>
            <a:r>
              <a:rPr lang="en-US" sz="1600" b="1" dirty="0"/>
              <a:t>~10–12 years)</a:t>
            </a:r>
            <a:r>
              <a:rPr lang="en-US" sz="1600" dirty="0"/>
              <a:t> of 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Early-career employees may not yet have enough experience, while employees who stay too long in the same role may stop growing or have fewer promotion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77E595-E1A5-BBE2-FF9D-8A20CF710BA2}"/>
              </a:ext>
            </a:extLst>
          </p:cNvPr>
          <p:cNvSpPr/>
          <p:nvPr/>
        </p:nvSpPr>
        <p:spPr>
          <a:xfrm>
            <a:off x="234892" y="218114"/>
            <a:ext cx="8615493" cy="64259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618CE-F729-66E1-34BA-6CE8AFC73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49" y="2508308"/>
            <a:ext cx="8145711" cy="3929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8824" y="209400"/>
            <a:ext cx="3846352" cy="404769"/>
          </a:xfrm>
        </p:spPr>
        <p:txBody>
          <a:bodyPr>
            <a:normAutofit/>
          </a:bodyPr>
          <a:lstStyle/>
          <a:p>
            <a:r>
              <a:rPr lang="en-US" sz="1800" b="1" u="sng" dirty="0"/>
              <a:t>Department-wise Promotion Rate</a:t>
            </a:r>
            <a:endParaRPr sz="18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244A4-6210-8883-CDB9-AA499D57E3D2}"/>
              </a:ext>
            </a:extLst>
          </p:cNvPr>
          <p:cNvSpPr txBox="1"/>
          <p:nvPr/>
        </p:nvSpPr>
        <p:spPr>
          <a:xfrm>
            <a:off x="461394" y="614169"/>
            <a:ext cx="834704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Technology shows the </a:t>
            </a:r>
            <a:r>
              <a:rPr lang="en-US" sz="1600" b="1" dirty="0"/>
              <a:t>highest promotion rate</a:t>
            </a:r>
            <a:r>
              <a:rPr lang="en-US" sz="1600" dirty="0"/>
              <a:t>, reflecting strong demand for technical leadership and skill-based growth. Procurement and Analytics also demonstrate </a:t>
            </a:r>
            <a:r>
              <a:rPr lang="en-US" sz="1600" b="1" dirty="0"/>
              <a:t>above-average promotion rates</a:t>
            </a:r>
            <a:r>
              <a:rPr lang="en-US" sz="1600" dirty="0"/>
              <a:t>, highlighting their strategic importance.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HR and Legal have the </a:t>
            </a:r>
            <a:r>
              <a:rPr lang="en-US" sz="1600" b="1" dirty="0"/>
              <a:t>lowest promotion rates</a:t>
            </a:r>
            <a:r>
              <a:rPr lang="en-US" sz="1600" dirty="0"/>
              <a:t>, suggesting flatter organizational structures and fewer leadership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Department-wise promotion analysis enables targeted talent strategies, reduces attrition risk, and ensures fair growth opportunities.</a:t>
            </a:r>
            <a:endParaRPr lang="en-I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32AD6-683D-6951-0327-7215D52AE3C8}"/>
              </a:ext>
            </a:extLst>
          </p:cNvPr>
          <p:cNvSpPr/>
          <p:nvPr/>
        </p:nvSpPr>
        <p:spPr>
          <a:xfrm>
            <a:off x="209725" y="187703"/>
            <a:ext cx="8724550" cy="648259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3DF868-99A8-589E-7086-F219AB79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66" y="2491606"/>
            <a:ext cx="8347046" cy="4009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490" y="270645"/>
            <a:ext cx="3793920" cy="430037"/>
          </a:xfrm>
        </p:spPr>
        <p:txBody>
          <a:bodyPr>
            <a:normAutofit/>
          </a:bodyPr>
          <a:lstStyle/>
          <a:p>
            <a:r>
              <a:rPr lang="en-IN" sz="1800" b="1" u="sng" dirty="0"/>
              <a:t>Distribution of Recruitment Channel</a:t>
            </a:r>
            <a:endParaRPr sz="18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DB37EA-73B5-455C-C9DE-60B173C0E481}"/>
              </a:ext>
            </a:extLst>
          </p:cNvPr>
          <p:cNvSpPr txBox="1"/>
          <p:nvPr/>
        </p:nvSpPr>
        <p:spPr>
          <a:xfrm>
            <a:off x="503338" y="748994"/>
            <a:ext cx="81121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majority of employees are hired through the </a:t>
            </a:r>
            <a:r>
              <a:rPr lang="en-US" sz="1600" b="1" dirty="0"/>
              <a:t>“Other” recruitment channel</a:t>
            </a:r>
            <a:r>
              <a:rPr lang="en-US" sz="1600" dirty="0"/>
              <a:t>, making it the </a:t>
            </a:r>
            <a:r>
              <a:rPr lang="en-US" sz="1600" b="1" dirty="0"/>
              <a:t>dominant hiring source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Referral</a:t>
            </a:r>
            <a:r>
              <a:rPr lang="en-US" sz="1600" dirty="0"/>
              <a:t> channel contributes </a:t>
            </a:r>
            <a:r>
              <a:rPr lang="en-US" sz="1600" b="1" dirty="0"/>
              <a:t>very few hires</a:t>
            </a:r>
            <a:r>
              <a:rPr lang="en-US" sz="1600" dirty="0"/>
              <a:t>, despite being typically high-quality.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Introduce referral incentives and recognition programs. Referrals typically reduce hiring costs and onboarding time.</a:t>
            </a: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AF5401-BAE6-5EEA-4FC7-4C0F2C5FDDA2}"/>
              </a:ext>
            </a:extLst>
          </p:cNvPr>
          <p:cNvSpPr/>
          <p:nvPr/>
        </p:nvSpPr>
        <p:spPr>
          <a:xfrm>
            <a:off x="276837" y="230698"/>
            <a:ext cx="8590326" cy="6396606"/>
          </a:xfrm>
          <a:prstGeom prst="rect">
            <a:avLst/>
          </a:prstGeom>
          <a:noFill/>
          <a:ln w="28575">
            <a:solidFill>
              <a:schemeClr val="tx1">
                <a:alpha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C68647-400C-113D-65FB-A3742CF27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338" y="2197916"/>
            <a:ext cx="8112155" cy="425541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218B8E5-44E5-F9E5-8A15-5837787D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585" y="192947"/>
            <a:ext cx="4009938" cy="427839"/>
          </a:xfrm>
        </p:spPr>
        <p:txBody>
          <a:bodyPr>
            <a:normAutofit/>
          </a:bodyPr>
          <a:lstStyle/>
          <a:p>
            <a:r>
              <a:rPr lang="en-US" sz="1800" b="1" u="sng" dirty="0"/>
              <a:t>Promotion Rate by Number of Trainings</a:t>
            </a:r>
            <a:endParaRPr sz="1800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A399D7-B48C-BC7F-440C-81546930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94" y="2428611"/>
            <a:ext cx="8279934" cy="4092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D3ACF3C-79F2-6D5B-3E2F-2687185DAC25}"/>
              </a:ext>
            </a:extLst>
          </p:cNvPr>
          <p:cNvSpPr/>
          <p:nvPr/>
        </p:nvSpPr>
        <p:spPr>
          <a:xfrm>
            <a:off x="226503" y="201336"/>
            <a:ext cx="8690994" cy="64679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BB515-2AE1-4090-9489-D7866CC0287B}"/>
              </a:ext>
            </a:extLst>
          </p:cNvPr>
          <p:cNvSpPr txBox="1"/>
          <p:nvPr/>
        </p:nvSpPr>
        <p:spPr>
          <a:xfrm>
            <a:off x="432033" y="542785"/>
            <a:ext cx="82799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with </a:t>
            </a:r>
            <a:r>
              <a:rPr lang="en-US" sz="1600" b="1" dirty="0"/>
              <a:t>1–2 trainings</a:t>
            </a:r>
            <a:r>
              <a:rPr lang="en-US" sz="1600" dirty="0"/>
              <a:t> have the highest promotion probability</a:t>
            </a:r>
            <a:r>
              <a:rPr lang="en-IN" sz="1600" dirty="0"/>
              <a:t>(~7–9%).</a:t>
            </a:r>
            <a:r>
              <a:rPr lang="en-US" sz="1600" b="1" dirty="0"/>
              <a:t> </a:t>
            </a:r>
            <a:r>
              <a:rPr lang="en-US" sz="1600" dirty="0"/>
              <a:t>Employees attending </a:t>
            </a:r>
            <a:r>
              <a:rPr lang="en-US" sz="1600" b="1" dirty="0"/>
              <a:t>more than 3 </a:t>
            </a:r>
            <a:r>
              <a:rPr lang="en-US" sz="1600" dirty="0"/>
              <a:t>trainings show lower promotion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Employees attending </a:t>
            </a:r>
            <a:r>
              <a:rPr lang="en-US" sz="1600" b="1" dirty="0"/>
              <a:t>5–6 trainings</a:t>
            </a:r>
            <a:r>
              <a:rPr lang="en-US" sz="1600" dirty="0"/>
              <a:t> show very low promotion probability, despite higher learning exposure.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Initial trainings are effective and aligned with </a:t>
            </a:r>
            <a:r>
              <a:rPr lang="en-US" sz="1600"/>
              <a:t>promotion criteria. Excessive </a:t>
            </a:r>
            <a:r>
              <a:rPr lang="en-US" sz="1600" dirty="0"/>
              <a:t>trainings may indicate skill gaps or performance issues, where employees are repeatedly trained but not yet promotion-ready.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2967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5596" y="390416"/>
            <a:ext cx="2059497" cy="771686"/>
          </a:xfrm>
        </p:spPr>
        <p:txBody>
          <a:bodyPr>
            <a:normAutofit/>
          </a:bodyPr>
          <a:lstStyle/>
          <a:p>
            <a:r>
              <a:rPr lang="en-US" sz="2800" b="1" dirty="0"/>
              <a:t>Conclusion</a:t>
            </a:r>
            <a:endParaRPr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AD43C-2741-1AE4-AF13-2658DD3FCD54}"/>
              </a:ext>
            </a:extLst>
          </p:cNvPr>
          <p:cNvSpPr txBox="1"/>
          <p:nvPr/>
        </p:nvSpPr>
        <p:spPr>
          <a:xfrm>
            <a:off x="838900" y="1606060"/>
            <a:ext cx="7633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KPI &gt;80%, awards, and training scores as mandatory promotion filters.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a minimum training score threshold (70+) for promotion eligibility.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repeated trainings (5–6) to identify unresolved skill gaps.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 referral hiring through incentives and recognition.</a:t>
            </a:r>
            <a:endParaRPr lang="en-IN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6F9948-7831-EB02-1651-AD597932D33B}"/>
              </a:ext>
            </a:extLst>
          </p:cNvPr>
          <p:cNvSpPr/>
          <p:nvPr/>
        </p:nvSpPr>
        <p:spPr>
          <a:xfrm>
            <a:off x="268448" y="226503"/>
            <a:ext cx="8607104" cy="64343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0C6D-69D8-BD73-FC27-B56D4799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21" y="2573222"/>
            <a:ext cx="8229600" cy="1143000"/>
          </a:xfrm>
        </p:spPr>
        <p:txBody>
          <a:bodyPr>
            <a:normAutofit/>
          </a:bodyPr>
          <a:lstStyle/>
          <a:p>
            <a:r>
              <a:rPr lang="en-US" sz="6600" b="1" dirty="0"/>
              <a:t>Thank you!</a:t>
            </a:r>
            <a:endParaRPr lang="en-IN" sz="66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9BCA2-C471-6E4F-55DD-E74887E32964}"/>
              </a:ext>
            </a:extLst>
          </p:cNvPr>
          <p:cNvSpPr/>
          <p:nvPr/>
        </p:nvSpPr>
        <p:spPr>
          <a:xfrm>
            <a:off x="260059" y="260059"/>
            <a:ext cx="8649049" cy="63336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843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744</Words>
  <Application>Microsoft Office PowerPoint</Application>
  <PresentationFormat>On-screen Show (4:3)</PresentationFormat>
  <Paragraphs>52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HR Analytics</vt:lpstr>
      <vt:lpstr>Distribution of Department</vt:lpstr>
      <vt:lpstr>Promotion Rate by KPI Completion</vt:lpstr>
      <vt:lpstr>Training Score vs Promotion</vt:lpstr>
      <vt:lpstr>Distribution of Previous Year Performance Ratings</vt:lpstr>
      <vt:lpstr>Impact of Awards on Promotion</vt:lpstr>
      <vt:lpstr>Length of Service vs Promotion</vt:lpstr>
      <vt:lpstr>Department-wise Promotion Rate</vt:lpstr>
      <vt:lpstr>Distribution of Recruitment Channel</vt:lpstr>
      <vt:lpstr>Promotion Rate by Number of Trainings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Srikant kumar</dc:creator>
  <cp:keywords/>
  <dc:description>generated using python-pptx</dc:description>
  <cp:lastModifiedBy>Srikant kumar</cp:lastModifiedBy>
  <cp:revision>22</cp:revision>
  <dcterms:created xsi:type="dcterms:W3CDTF">2013-01-27T09:14:16Z</dcterms:created>
  <dcterms:modified xsi:type="dcterms:W3CDTF">2025-12-18T04:04:41Z</dcterms:modified>
  <cp:category/>
</cp:coreProperties>
</file>